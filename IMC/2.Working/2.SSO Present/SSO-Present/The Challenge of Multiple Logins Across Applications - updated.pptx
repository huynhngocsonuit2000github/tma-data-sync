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fgDnkYyKN2iuGOSHfPF+7XZaZ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207" autoAdjust="0"/>
  </p:normalViewPr>
  <p:slideViewPr>
    <p:cSldViewPr snapToGrid="0">
      <p:cViewPr varScale="1">
        <p:scale>
          <a:sx n="99" d="100"/>
          <a:sy n="99" d="100"/>
        </p:scale>
        <p:origin x="9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 smtClean="0"/>
              <a:t>Password Management: 	User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 smtClean="0"/>
              <a:t>Technical Complexity: 		app</a:t>
            </a:r>
            <a:endParaRPr dirty="0" smtClean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 smtClean="0"/>
              <a:t>Access Governance Risk: 	sync </a:t>
            </a:r>
            <a:endParaRPr dirty="0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100" b="1" dirty="0">
                <a:latin typeface="Arial"/>
                <a:ea typeface="Arial"/>
                <a:cs typeface="Arial"/>
                <a:sym typeface="Arial"/>
              </a:rPr>
              <a:t>Centralized Authentication: </a:t>
            </a:r>
            <a:r>
              <a:rPr lang="en-US" sz="1100" b="1" dirty="0" smtClean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100" dirty="0" smtClean="0">
                <a:latin typeface="Arial"/>
                <a:ea typeface="Arial"/>
                <a:cs typeface="Arial"/>
                <a:sym typeface="Arial"/>
              </a:rPr>
              <a:t>One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 smtClean="0"/>
              <a:t>Seamless </a:t>
            </a:r>
            <a:r>
              <a:rPr lang="en-US" dirty="0"/>
              <a:t>Access: </a:t>
            </a:r>
            <a:r>
              <a:rPr lang="en-US" dirty="0" smtClean="0"/>
              <a:t>		After </a:t>
            </a:r>
            <a:r>
              <a:rPr lang="en-US" dirty="0"/>
              <a:t>logging in, you can open other apps without logging in again.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100" b="1" dirty="0">
                <a:latin typeface="Arial"/>
                <a:ea typeface="Arial"/>
                <a:cs typeface="Arial"/>
                <a:sym typeface="Arial"/>
              </a:rPr>
              <a:t>Centralized Control: 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Security rules (like </a:t>
            </a:r>
            <a:r>
              <a:rPr lang="en-US" sz="1100" b="1" dirty="0">
                <a:latin typeface="Arial"/>
                <a:ea typeface="Arial"/>
                <a:cs typeface="Arial"/>
                <a:sym typeface="Arial"/>
              </a:rPr>
              <a:t>MFA, 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Password policy, Conditional access) are set in one place. </a:t>
            </a:r>
            <a:endParaRPr dirty="0"/>
          </a:p>
        </p:txBody>
      </p:sp>
      <p:sp>
        <p:nvSpPr>
          <p:cNvPr id="33" name="Google Shape;3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Icon: mostly use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User Identity Management: when user add to icon, they just need to add to the Directory of Icon. then can access to all of the application of icon (Depend on internal application also)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Token: can verify the user and permission also</a:t>
            </a:r>
            <a:endParaRPr/>
          </a:p>
        </p:txBody>
      </p:sp>
      <p:sp>
        <p:nvSpPr>
          <p:cNvPr id="92" name="Google Shape;9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d8bc91e4c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bd8bc91e4c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bd8bc91e4c_0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" Type="http://schemas.openxmlformats.org/officeDocument/2006/relationships/image" Target="../media/image49.png"/><Relationship Id="rId21" Type="http://schemas.openxmlformats.org/officeDocument/2006/relationships/image" Target="../media/image66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4" Type="http://schemas.openxmlformats.org/officeDocument/2006/relationships/image" Target="../media/image2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26" Type="http://schemas.openxmlformats.org/officeDocument/2006/relationships/image" Target="../media/image89.png"/><Relationship Id="rId3" Type="http://schemas.openxmlformats.org/officeDocument/2006/relationships/image" Target="../media/image6.png"/><Relationship Id="rId21" Type="http://schemas.openxmlformats.org/officeDocument/2006/relationships/image" Target="../media/image84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5" Type="http://schemas.openxmlformats.org/officeDocument/2006/relationships/image" Target="../media/image8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24" Type="http://schemas.openxmlformats.org/officeDocument/2006/relationships/image" Target="../media/image87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23" Type="http://schemas.openxmlformats.org/officeDocument/2006/relationships/image" Target="../media/image86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Relationship Id="rId22" Type="http://schemas.openxmlformats.org/officeDocument/2006/relationships/image" Target="../media/image8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6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91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1000"/>
            <a:ext cx="762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5406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3516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162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571500" y="571500"/>
            <a:ext cx="1325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3600"/>
              <a:buFont typeface="Inter"/>
              <a:buNone/>
            </a:pPr>
            <a:r>
              <a:rPr lang="en-US" sz="3600" b="1" i="0" u="none" strike="noStrike" cap="none" dirty="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The Challenge of Multiple Logins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71500" y="1181100"/>
            <a:ext cx="13258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lang="en-US" sz="1800" b="0" i="0" u="none" strike="noStrike" cap="none" dirty="0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Fragmentation leads to security vulnerabilities and operational inefficiency.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52500" y="2315960"/>
            <a:ext cx="4914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lang="en-US" sz="1800" b="1" i="0" u="none" strike="noStrike" cap="none" dirty="0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Password </a:t>
            </a:r>
            <a:r>
              <a:rPr lang="en-US" sz="1800" b="1" dirty="0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Management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952500" y="2658860"/>
            <a:ext cx="4914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User need to manage extra password, security issue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52500" y="3497060"/>
            <a:ext cx="58978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lang="en-US" sz="1800" b="1" i="0" u="none" strike="noStrike" cap="none" dirty="0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Technical Complexity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952500" y="3839960"/>
            <a:ext cx="4914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Each application requires independent management of sessions, user storage, and security logic.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952500" y="4678160"/>
            <a:ext cx="58978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lang="en-US" sz="1800" b="1" i="0" u="none" strike="noStrike" cap="none" dirty="0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Access Governance Risk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952500" y="5021060"/>
            <a:ext cx="4914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Difficult to sync roles/permissions or revoke access instantly across disparate user pools.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58413" y="2292135"/>
            <a:ext cx="5553075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33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672" y="1912527"/>
            <a:ext cx="6484660" cy="1053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343" y="2093199"/>
            <a:ext cx="542016" cy="567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2791" y="2213647"/>
            <a:ext cx="301120" cy="304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1672" y="3147118"/>
            <a:ext cx="6484660" cy="1053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2343" y="3327789"/>
            <a:ext cx="504376" cy="567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52791" y="3448238"/>
            <a:ext cx="263480" cy="304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1672" y="4381709"/>
            <a:ext cx="6484660" cy="1053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2343" y="4562380"/>
            <a:ext cx="542016" cy="567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52791" y="4682828"/>
            <a:ext cx="301120" cy="304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51679" y="5897358"/>
            <a:ext cx="11288576" cy="59000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451679" y="451679"/>
            <a:ext cx="13546291" cy="457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3600"/>
              <a:buFont typeface="Inter"/>
              <a:buNone/>
            </a:pPr>
            <a:r>
              <a:rPr lang="en-US" sz="3600" b="1" i="0" u="none" strike="noStrike" cap="none" dirty="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The Solution: Single Sign-On (SSO)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1675" y="1029325"/>
            <a:ext cx="108474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800" b="0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entralized authentication process that allows a user to access multiple applications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324918" y="2093199"/>
            <a:ext cx="65169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388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lang="en-US" sz="1800" b="1" dirty="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Centralized</a:t>
            </a:r>
            <a:r>
              <a:rPr lang="en-US" sz="1800" b="1" i="0" u="none" strike="noStrike" cap="none" dirty="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 Authentication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324918" y="2364207"/>
            <a:ext cx="5430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963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One main system checks who you are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287279" y="3327789"/>
            <a:ext cx="54684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388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lang="en-US" sz="1800" b="1" i="0" u="none" strike="noStrike" cap="none" dirty="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Seamless Access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287279" y="3598796"/>
            <a:ext cx="54684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22962"/>
              </a:lnSpc>
              <a:buClr>
                <a:srgbClr val="374151"/>
              </a:buClr>
              <a:buSzPts val="1350"/>
            </a:pPr>
            <a:r>
              <a:rPr lang="en-US" sz="1350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After logging in, you can open other apps without logging in again</a:t>
            </a:r>
            <a:endParaRPr lang="en-US" sz="1350" dirty="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324918" y="4562380"/>
            <a:ext cx="65169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388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lang="en-US" sz="1800" b="1" i="0" u="none" strike="noStrike" cap="none" dirty="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Centralized Control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324918" y="4833388"/>
            <a:ext cx="5430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962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Inter"/>
              <a:buNone/>
            </a:pPr>
            <a:r>
              <a:rPr lang="en-US" sz="1350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Security rules (like MFA, Password policy, Conditional access) are set in one place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32351" y="6086969"/>
            <a:ext cx="3757974" cy="210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lang="en-US" sz="1500" b="0" i="1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"Login once -&gt; Access many apps"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026675" y="1897871"/>
            <a:ext cx="4602038" cy="301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0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935" y="400584"/>
            <a:ext cx="480701" cy="3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935" y="1992522"/>
            <a:ext cx="5326767" cy="1966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7308" y="2248896"/>
            <a:ext cx="664970" cy="677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542" y="2409130"/>
            <a:ext cx="344502" cy="32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24076" y="1992522"/>
            <a:ext cx="5326892" cy="1966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80449" y="2248896"/>
            <a:ext cx="753098" cy="677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40683" y="2409130"/>
            <a:ext cx="432631" cy="32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0935" y="4254014"/>
            <a:ext cx="5326767" cy="1966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97308" y="4510388"/>
            <a:ext cx="705028" cy="677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3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57542" y="4670621"/>
            <a:ext cx="384561" cy="32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224076" y="4254014"/>
            <a:ext cx="5326892" cy="1966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3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480449" y="4510388"/>
            <a:ext cx="664970" cy="677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3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640683" y="4670621"/>
            <a:ext cx="344502" cy="32046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640935" y="560818"/>
            <a:ext cx="13092041" cy="45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3600"/>
              <a:buFont typeface="Inter"/>
              <a:buNone/>
            </a:pPr>
            <a:r>
              <a:rPr lang="en-US" sz="3600" b="1" i="0" u="none" strike="noStrike" cap="none" dirty="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Core SSO Architecture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40935" y="1082078"/>
            <a:ext cx="13092041" cy="256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166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lang="en-US" sz="1800" b="0" i="0" u="none" strike="noStrike" cap="none" dirty="0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The four pillars of centralized identity management.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754558" y="2248896"/>
            <a:ext cx="3956770" cy="256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166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lang="en-US" sz="1800" b="1" i="0" u="none" strike="noStrike" cap="none" dirty="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User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754558" y="2601410"/>
            <a:ext cx="3956770" cy="83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1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person trying to sign in and use an app.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425828" y="2248896"/>
            <a:ext cx="4642519" cy="256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166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lang="en-US" sz="1800" b="1" i="0" u="none" strike="noStrike" cap="non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Application (SP)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425828" y="2601410"/>
            <a:ext cx="3868766" cy="83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1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application the user want to use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794617" y="4510388"/>
            <a:ext cx="4700054" cy="256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166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lang="en-US" sz="1800" b="1" i="0" u="none" strike="noStrike" cap="none" dirty="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Identity Provider (</a:t>
            </a:r>
            <a:r>
              <a:rPr lang="en-US" sz="1800" b="1" i="0" u="none" strike="noStrike" cap="none" dirty="0" err="1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IdP</a:t>
            </a:r>
            <a:r>
              <a:rPr lang="en-US" sz="1800" b="1" i="0" u="none" strike="noStrike" cap="none" dirty="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794617" y="4862902"/>
            <a:ext cx="3916712" cy="83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1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central login service (like Azure </a:t>
            </a:r>
            <a:r>
              <a:rPr lang="en-US" sz="135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Entra</a:t>
            </a: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ID).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337699" y="4510388"/>
            <a:ext cx="3956895" cy="256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166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lang="en-US" sz="1800" b="1" i="0" u="none" strike="noStrike" cap="non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Tokens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337699" y="4862902"/>
            <a:ext cx="3956895" cy="83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1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Secure digital “passes” that prove who the user is and what they can access.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883" y="443883"/>
            <a:ext cx="739806" cy="4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883" y="1714847"/>
            <a:ext cx="11304233" cy="828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437" y="1900492"/>
            <a:ext cx="458680" cy="457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3883" y="3331104"/>
            <a:ext cx="5563340" cy="1168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1437" y="3538250"/>
            <a:ext cx="355107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84777" y="3331104"/>
            <a:ext cx="5563340" cy="1168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62330" y="3538250"/>
            <a:ext cx="355107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3883" y="5091439"/>
            <a:ext cx="5563340" cy="1168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4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21437" y="5298584"/>
            <a:ext cx="318117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4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184777" y="5091439"/>
            <a:ext cx="5563340" cy="1168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362330" y="5298584"/>
            <a:ext cx="288524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443883" y="665825"/>
            <a:ext cx="13565080" cy="457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3600"/>
              <a:buFont typeface="Inter"/>
              <a:buNone/>
            </a:pPr>
            <a:r>
              <a:rPr lang="en-US" sz="3600" b="1" i="0" u="none" strike="noStrike" cap="none" dirty="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Identity Provider (</a:t>
            </a:r>
            <a:r>
              <a:rPr lang="en-US" sz="3600" b="1" i="0" u="none" strike="noStrike" cap="none" dirty="0" err="1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IdP</a:t>
            </a:r>
            <a:r>
              <a:rPr lang="en-US" sz="3600" b="1" i="0" u="none" strike="noStrike" cap="none" dirty="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) - </a:t>
            </a:r>
            <a:r>
              <a:rPr lang="en-US" sz="3600" b="1" dirty="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Azure </a:t>
            </a:r>
            <a:r>
              <a:rPr lang="en-US" sz="3600" b="1" dirty="0" err="1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Entra</a:t>
            </a:r>
            <a:r>
              <a:rPr lang="en-US" sz="3600" b="1" dirty="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 ID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43883" y="1182187"/>
            <a:ext cx="13565080" cy="23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555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lang="en-US" sz="1800" b="0" i="0" u="none" strike="noStrike" cap="none" dirty="0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The Central Authority in SSO Ecosystems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257670" y="1892400"/>
            <a:ext cx="6525087" cy="26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2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lang="en-US" sz="225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Azure </a:t>
            </a:r>
            <a:r>
              <a:rPr lang="en-US" sz="225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Entra</a:t>
            </a:r>
            <a:r>
              <a:rPr lang="en-US" sz="225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ID / B2C</a:t>
            </a:r>
            <a:endParaRPr sz="2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257670" y="2158730"/>
            <a:ext cx="65250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8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lang="en-US" sz="1350" b="0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"Single Source of Truth" for authentication and authorization.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124505" y="3508658"/>
            <a:ext cx="56463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7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500"/>
              <a:buFont typeface="Inter"/>
              <a:buNone/>
            </a:pPr>
            <a:r>
              <a:rPr lang="en-US" sz="150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User Identity Management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124505" y="3774988"/>
            <a:ext cx="47052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Centralized user pool management, supporting full identity 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like create/update/disable them centrally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865398" y="3508658"/>
            <a:ext cx="56463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7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500"/>
              <a:buFont typeface="Inter"/>
              <a:buNone/>
            </a:pPr>
            <a:r>
              <a:rPr lang="en-US" sz="150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Secure Authentication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865398" y="3774988"/>
            <a:ext cx="47052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Provides MFA, passwordless login (FIDO2), and biometric options to verify identities securely.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087515" y="5268992"/>
            <a:ext cx="47421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7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500"/>
              <a:buFont typeface="Inter"/>
              <a:buNone/>
            </a:pPr>
            <a:r>
              <a:rPr lang="en-US" sz="150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Token Issuance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087515" y="5535322"/>
            <a:ext cx="47421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Generates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JWTs (ID and Access Tokens) used by applications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798815" y="5268992"/>
            <a:ext cx="57261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7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500"/>
              <a:buFont typeface="Inter"/>
              <a:buNone/>
            </a:pPr>
            <a:r>
              <a:rPr lang="en-US" sz="150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Policy Enforcement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798815" y="5535322"/>
            <a:ext cx="47718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is Azure deciding if login should be allowed 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based on location, device, and behavior.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571500" y="3810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2700"/>
              <a:buFont typeface="Inter"/>
              <a:buNone/>
            </a:pPr>
            <a:r>
              <a:rPr lang="en-US" sz="2700" b="1" i="0" u="none" strike="noStrike" cap="none" dirty="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Authorization Code Flow</a:t>
            </a:r>
            <a:endParaRPr sz="2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71500" y="8382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500"/>
              <a:buFont typeface="Inter"/>
              <a:buNone/>
            </a:pPr>
            <a:r>
              <a:rPr lang="en-US" sz="1500" b="0" i="0" u="none" strike="noStrike" cap="none" dirty="0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THE GOLD STANDARD FOR WEB &amp; MOBILE APPLICATIONS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2197401"/>
            <a:ext cx="11239749" cy="356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235116" y="5881036"/>
            <a:ext cx="40233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i="1" dirty="0">
                <a:solidFill>
                  <a:srgbClr val="083D77"/>
                </a:solidFill>
                <a:latin typeface="Inter"/>
                <a:ea typeface="Inter"/>
                <a:cs typeface="Inter"/>
              </a:rPr>
              <a:t>OAuth 2.0 Authorization Code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3bd8bc91e4c_0_4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bd8bc91e4c_0_48"/>
          <p:cNvSpPr/>
          <p:nvPr/>
        </p:nvSpPr>
        <p:spPr>
          <a:xfrm>
            <a:off x="571500" y="3810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2700"/>
              <a:buFont typeface="Inter"/>
              <a:buNone/>
            </a:pPr>
            <a:r>
              <a:rPr lang="en-US" sz="2700" b="1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Client Credentials Flow</a:t>
            </a:r>
            <a:endParaRPr sz="2700" b="1">
              <a:solidFill>
                <a:srgbClr val="006D77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2700"/>
              <a:buFont typeface="Inter"/>
              <a:buNone/>
            </a:pPr>
            <a:endParaRPr sz="2700" b="1">
              <a:solidFill>
                <a:srgbClr val="006D7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g3bd8bc91e4c_0_48"/>
          <p:cNvSpPr/>
          <p:nvPr/>
        </p:nvSpPr>
        <p:spPr>
          <a:xfrm>
            <a:off x="571500" y="8382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500"/>
              <a:buFont typeface="Inter"/>
              <a:buNone/>
            </a:pPr>
            <a:r>
              <a:rPr lang="en-US" sz="1500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Secure Machine-to-Machine (M2M) Authentication</a:t>
            </a:r>
            <a:endParaRPr sz="1500">
              <a:solidFill>
                <a:srgbClr val="083D77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500"/>
              <a:buFont typeface="Inter"/>
              <a:buNone/>
            </a:pPr>
            <a:endParaRPr sz="1500">
              <a:solidFill>
                <a:srgbClr val="083D7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5" name="Google Shape;135;g3bd8bc91e4c_0_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2101525"/>
            <a:ext cx="11239749" cy="35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1000"/>
            <a:ext cx="5715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85950"/>
            <a:ext cx="6318198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228850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7717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3500" y="2686050"/>
            <a:ext cx="5251399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571500" y="590550"/>
            <a:ext cx="1325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3600"/>
              <a:buFont typeface="Inter"/>
              <a:buNone/>
            </a:pPr>
            <a:r>
              <a:rPr lang="en-US" sz="3600" b="1" i="0" u="none" strike="noStrike" cap="non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Client Credentials Flow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71500" y="1200150"/>
            <a:ext cx="13258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lang="en-US" sz="1800" b="0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Secure Machine-to-Machine (M2M) Authentication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171575" y="2190750"/>
            <a:ext cx="5708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500"/>
              <a:buFont typeface="Inter"/>
              <a:buNone/>
            </a:pPr>
            <a:r>
              <a:rPr lang="en-US" sz="150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Authentication Process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995363" y="277177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447800" y="2686050"/>
            <a:ext cx="525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200"/>
              <a:buFont typeface="Inter"/>
              <a:buNone/>
            </a:pPr>
            <a:r>
              <a:rPr lang="en-US" sz="120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Identity Request:</a:t>
            </a:r>
            <a:r>
              <a:rPr lang="en-US" sz="1200" b="0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 Client sends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669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1000"/>
            <a:ext cx="762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62100"/>
            <a:ext cx="2590800" cy="1754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2098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0900" y="1562100"/>
            <a:ext cx="2590800" cy="1754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81400" y="22098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0300" y="1562100"/>
            <a:ext cx="2590800" cy="1754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00800" y="22098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29700" y="1562100"/>
            <a:ext cx="2590800" cy="1754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220200" y="22098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8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1500" y="3698081"/>
            <a:ext cx="53340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8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44938" y="4345781"/>
            <a:ext cx="931962" cy="23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8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199186" y="4730502"/>
            <a:ext cx="1477714" cy="23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8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88966" y="5115223"/>
            <a:ext cx="1087934" cy="23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8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433143" y="5499943"/>
            <a:ext cx="1243757" cy="23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8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286500" y="4117181"/>
            <a:ext cx="53340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8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400800" y="426958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8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286500" y="4993481"/>
            <a:ext cx="533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8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400800" y="5145881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8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286500" y="5717381"/>
            <a:ext cx="533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8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6400800" y="586978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571500" y="5334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2700"/>
              <a:buFont typeface="Inter"/>
              <a:buNone/>
            </a:pPr>
            <a:r>
              <a:rPr lang="en-US" sz="2700" b="1" i="0" u="none" strike="noStrike" cap="non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On-Behalf-Of (OBO) Flow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71500" y="9906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Preserving User Identity Across Service Chains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762000" y="1752600"/>
            <a:ext cx="2209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9578"/>
              </a:buClr>
              <a:buSzPts val="2250"/>
              <a:buFont typeface="Inter"/>
              <a:buNone/>
            </a:pPr>
            <a:r>
              <a:rPr lang="en-US" sz="2250" b="1" i="0" u="none" strike="noStrike" cap="none">
                <a:solidFill>
                  <a:srgbClr val="E29578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990600" y="217170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200"/>
              <a:buFont typeface="Inter"/>
              <a:buNone/>
            </a:pPr>
            <a:r>
              <a:rPr lang="en-US" sz="120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Initial Call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62000" y="2476500"/>
            <a:ext cx="22098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User authenticates and calls </a:t>
            </a: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API A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using an access token.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3581400" y="1752600"/>
            <a:ext cx="2209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9578"/>
              </a:buClr>
              <a:buSzPts val="2250"/>
              <a:buFont typeface="Inter"/>
              <a:buNone/>
            </a:pPr>
            <a:r>
              <a:rPr lang="en-US" sz="2250" b="1" i="0" u="none" strike="noStrike" cap="none">
                <a:solidFill>
                  <a:srgbClr val="E29578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3810000" y="2171700"/>
            <a:ext cx="2651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200"/>
              <a:buFont typeface="Inter"/>
              <a:buNone/>
            </a:pPr>
            <a:r>
              <a:rPr lang="en-US" sz="120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Token Exchange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581400" y="2476500"/>
            <a:ext cx="2209800" cy="6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API A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requests a new token from the IdP using the original user token as assertion.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400800" y="1752600"/>
            <a:ext cx="2209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9578"/>
              </a:buClr>
              <a:buSzPts val="2250"/>
              <a:buFont typeface="Inter"/>
              <a:buNone/>
            </a:pPr>
            <a:r>
              <a:rPr lang="en-US" sz="2250" b="1" i="0" u="none" strike="noStrike" cap="none">
                <a:solidFill>
                  <a:srgbClr val="E29578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591300" y="217170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200"/>
              <a:buFont typeface="Inter"/>
              <a:buNone/>
            </a:pPr>
            <a:r>
              <a:rPr lang="en-US" sz="120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User Context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400800" y="2476500"/>
            <a:ext cx="2209800" cy="6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IdP issues a new token for </a:t>
            </a: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API B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maintaining the user's identity/scopes.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9220200" y="1752600"/>
            <a:ext cx="2209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9578"/>
              </a:buClr>
              <a:buSzPts val="2250"/>
              <a:buFont typeface="Inter"/>
              <a:buNone/>
            </a:pPr>
            <a:r>
              <a:rPr lang="en-US" sz="2250" b="1" i="0" u="none" strike="noStrike" cap="none">
                <a:solidFill>
                  <a:srgbClr val="E29578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9429750" y="2171700"/>
            <a:ext cx="2651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200"/>
              <a:buFont typeface="Inter"/>
              <a:buNone/>
            </a:pPr>
            <a:r>
              <a:rPr lang="en-US" sz="120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Downstream Call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9220200" y="2476500"/>
            <a:ext cx="22098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API A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uses the new token to call </a:t>
            </a: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API B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securely on the user's behalf.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00100" y="3926681"/>
            <a:ext cx="4876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350"/>
              <a:buFont typeface="Inter"/>
              <a:buNone/>
            </a:pPr>
            <a:r>
              <a:rPr lang="en-US" sz="1350" b="1" i="0" u="none" strike="noStrike" cap="non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CRITICAL PARAMETERS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800100" y="4366617"/>
            <a:ext cx="857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lang="en-US" sz="105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Grant Type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821138" y="4345781"/>
            <a:ext cx="11184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006D77"/>
                </a:solidFill>
                <a:latin typeface="Arial"/>
                <a:ea typeface="Arial"/>
                <a:cs typeface="Arial"/>
                <a:sym typeface="Arial"/>
              </a:rPr>
              <a:t>jwt-bearer</a:t>
            </a:r>
            <a:endParaRPr sz="10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00100" y="4751338"/>
            <a:ext cx="765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lang="en-US" sz="105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Assertion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275386" y="4730502"/>
            <a:ext cx="17733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006D77"/>
                </a:solidFill>
                <a:latin typeface="Arial"/>
                <a:ea typeface="Arial"/>
                <a:cs typeface="Arial"/>
                <a:sym typeface="Arial"/>
              </a:rPr>
              <a:t>User Access Token</a:t>
            </a:r>
            <a:endParaRPr sz="10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800100" y="5136059"/>
            <a:ext cx="1177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lang="en-US" sz="105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Requested Use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665166" y="5115223"/>
            <a:ext cx="13056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006D77"/>
                </a:solidFill>
                <a:latin typeface="Arial"/>
                <a:ea typeface="Arial"/>
                <a:cs typeface="Arial"/>
                <a:sym typeface="Arial"/>
              </a:rPr>
              <a:t>on_behalf_of</a:t>
            </a:r>
            <a:endParaRPr sz="10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800100" y="5520779"/>
            <a:ext cx="880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lang="en-US" sz="105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Client Auth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09343" y="5499943"/>
            <a:ext cx="14925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006D77"/>
                </a:solidFill>
                <a:latin typeface="Arial"/>
                <a:ea typeface="Arial"/>
                <a:cs typeface="Arial"/>
                <a:sym typeface="Arial"/>
              </a:rPr>
              <a:t>Secret or Cert</a:t>
            </a:r>
            <a:endParaRPr sz="10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286500" y="3698081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350"/>
              <a:buFont typeface="Inter"/>
              <a:buNone/>
            </a:pPr>
            <a:r>
              <a:rPr lang="en-US" sz="1350" b="1" i="0" u="none" strike="noStrike" cap="non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SECURITY CONSIDERATIONS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705600" y="4231481"/>
            <a:ext cx="4800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lang="en-US" sz="105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Conditional Access Failure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705600" y="4421981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May fail if downstream APIs require MFA or device compliance not met by the initial token.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743700" y="5107781"/>
            <a:ext cx="450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lang="en-US" sz="105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User Principals Only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743700" y="5298281"/>
            <a:ext cx="5406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OBO flow is strictly for user-context operations; does not support service principals.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705600" y="5831681"/>
            <a:ext cx="4219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Stateless Identity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705600" y="6022181"/>
            <a:ext cx="5063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DBEAFE"/>
                </a:solidFill>
                <a:latin typeface="Inter"/>
                <a:ea typeface="Inter"/>
                <a:cs typeface="Inter"/>
                <a:sym typeface="Inter"/>
              </a:rPr>
              <a:t>Preserves auditability and security across layered microservice architectures.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19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5325" y="296883"/>
            <a:ext cx="593766" cy="44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5325" y="1511089"/>
            <a:ext cx="5502196" cy="4227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2831" y="1748595"/>
            <a:ext cx="445325" cy="44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0763" y="1852504"/>
            <a:ext cx="289461" cy="237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905868" y="1748595"/>
            <a:ext cx="1804144" cy="25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2831" y="4721717"/>
            <a:ext cx="2454157" cy="330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896" y="4810782"/>
            <a:ext cx="192974" cy="152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9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255741" y="4721717"/>
            <a:ext cx="2454272" cy="330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9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344806" y="4810782"/>
            <a:ext cx="155864" cy="152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9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2831" y="5170869"/>
            <a:ext cx="2454157" cy="330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9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1896" y="5259934"/>
            <a:ext cx="192974" cy="152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9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255741" y="5170869"/>
            <a:ext cx="2454272" cy="330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9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344806" y="5259934"/>
            <a:ext cx="192974" cy="152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9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244403" y="1511089"/>
            <a:ext cx="5502196" cy="4227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9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481909" y="1748595"/>
            <a:ext cx="445325" cy="44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9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589529" y="1852504"/>
            <a:ext cx="230085" cy="237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9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0263806" y="1748595"/>
            <a:ext cx="1245286" cy="25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9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6481909" y="4212841"/>
            <a:ext cx="5027185" cy="5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9" descr="preencoded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600662" y="4386448"/>
            <a:ext cx="230085" cy="237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9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11234475" y="4429125"/>
            <a:ext cx="155864" cy="152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9" descr="preencoded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481909" y="4916431"/>
            <a:ext cx="5027185" cy="584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9" descr="preencoded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600662" y="5090038"/>
            <a:ext cx="230085" cy="237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9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11234475" y="5132715"/>
            <a:ext cx="155864" cy="152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9" descr="preencoded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445325" y="5976280"/>
            <a:ext cx="11301272" cy="58483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/>
          <p:nvPr/>
        </p:nvSpPr>
        <p:spPr>
          <a:xfrm>
            <a:off x="445325" y="460169"/>
            <a:ext cx="13561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3600"/>
              <a:buFont typeface="Inter"/>
              <a:buNone/>
            </a:pPr>
            <a:r>
              <a:rPr lang="en-US" sz="3600" b="1" i="0" u="none" strike="noStrike" cap="non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Real-World Use Cases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45325" y="976699"/>
            <a:ext cx="135615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888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lang="en-US" sz="1800" b="0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How Single Sign-On scales across enterprise and technical ecosystems.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3994933" y="1748595"/>
            <a:ext cx="21651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050"/>
              <a:buFont typeface="Inter"/>
              <a:buNone/>
            </a:pPr>
            <a:r>
              <a:rPr lang="en-US" sz="1050" b="1" i="0" u="none" strike="noStrike" cap="non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ENTERPRISE IDENTITY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82831" y="2461115"/>
            <a:ext cx="60327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511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2250"/>
              <a:buFont typeface="Inter"/>
              <a:buNone/>
            </a:pPr>
            <a:r>
              <a:rPr lang="en-US" sz="2250" b="1" i="0" u="none" strike="noStrike" cap="non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Internal Applications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82831" y="2847063"/>
            <a:ext cx="5027100" cy="8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1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Employees navigate dozens of internal tools daily. SSO centralizes access to high-frequency systems while ensuring strict governance.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053935" y="4812638"/>
            <a:ext cx="2306700" cy="1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lang="en-US" sz="105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HR &amp; Finance (Workday, SAP)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589734" y="4812638"/>
            <a:ext cx="2057400" cy="1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lang="en-US" sz="105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Project Tools (Jira, Asana)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053935" y="5261789"/>
            <a:ext cx="2235600" cy="1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lang="en-US" sz="105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Collaboration (Teams, Slack)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3626845" y="5261789"/>
            <a:ext cx="2057400" cy="1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lang="en-US" sz="105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Instant Access Revocation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0352870" y="1748595"/>
            <a:ext cx="14943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050"/>
              <a:buFont typeface="Inter"/>
              <a:buNone/>
            </a:pPr>
            <a:r>
              <a:rPr lang="en-US" sz="1050" b="1" i="0" u="none" strike="noStrike" cap="non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CLOUD NATIVE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481909" y="2461115"/>
            <a:ext cx="60327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511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2250"/>
              <a:buFont typeface="Inter"/>
              <a:buNone/>
            </a:pPr>
            <a:r>
              <a:rPr lang="en-US" sz="2250" b="1" i="0" u="none" strike="noStrike" cap="non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Microservices &amp; APIs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481909" y="2847063"/>
            <a:ext cx="5027100" cy="8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1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Decomposed services require consistent security. SSO enables stateless communication and preserves identity across API chains.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949500" y="4331594"/>
            <a:ext cx="2075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200"/>
              <a:buFont typeface="Inter"/>
              <a:buNone/>
            </a:pPr>
            <a:r>
              <a:rPr lang="en-US" sz="120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Streaming Platforms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949500" y="4560171"/>
            <a:ext cx="2075100" cy="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88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e.g., Netflix profile/content sync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6949500" y="5035184"/>
            <a:ext cx="2386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200"/>
              <a:buFont typeface="Inter"/>
              <a:buNone/>
            </a:pPr>
            <a:r>
              <a:rPr lang="en-US" sz="1200" b="1" i="0" u="none" strike="noStrike" cap="non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Ride-Sharing Ecosystems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949500" y="5263761"/>
            <a:ext cx="2386800" cy="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88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e.g., Uber rides, delivery, &amp; payments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623455" y="6164731"/>
            <a:ext cx="10002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1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lang="en-US" sz="1350" b="0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"SSO enables stateless authentication via JWT tokens, reducing server load and improving scalability."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8736203" y="6095033"/>
            <a:ext cx="2832300" cy="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38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ARCHITECTURE TIP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8736203" y="6228631"/>
            <a:ext cx="28323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9578"/>
              </a:buClr>
              <a:buSzPts val="1200"/>
              <a:buFont typeface="Inter"/>
              <a:buNone/>
            </a:pPr>
            <a:r>
              <a:rPr lang="en-US" sz="1200" b="1" i="0" u="none" strike="noStrike" cap="none">
                <a:solidFill>
                  <a:srgbClr val="E29578"/>
                </a:solidFill>
                <a:latin typeface="Inter"/>
                <a:ea typeface="Inter"/>
                <a:cs typeface="Inter"/>
                <a:sym typeface="Inter"/>
              </a:rPr>
              <a:t>Centralized Policy Enforcement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1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2958" y="1068921"/>
            <a:ext cx="772732" cy="4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2958" y="1503583"/>
            <a:ext cx="3570240" cy="3454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4930" y="1825555"/>
            <a:ext cx="547352" cy="57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3718" y="1954344"/>
            <a:ext cx="289775" cy="2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4930" y="2641804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4930" y="3221353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4930" y="3575522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0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10775" y="1503583"/>
            <a:ext cx="3570240" cy="3454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32747" y="1825555"/>
            <a:ext cx="547352" cy="57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0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61536" y="1954344"/>
            <a:ext cx="289774" cy="2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2747" y="2641804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2747" y="3221353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2747" y="3800903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0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38593" y="1503583"/>
            <a:ext cx="3570366" cy="3454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0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60564" y="1825555"/>
            <a:ext cx="547352" cy="57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0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589353" y="1954344"/>
            <a:ext cx="289775" cy="2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0564" y="2641804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0564" y="3221353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0564" y="3800903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0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82958" y="5344732"/>
            <a:ext cx="11226001" cy="1030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0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007666" y="5715000"/>
            <a:ext cx="289775" cy="28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0"/>
          <p:cNvSpPr/>
          <p:nvPr/>
        </p:nvSpPr>
        <p:spPr>
          <a:xfrm>
            <a:off x="482958" y="482958"/>
            <a:ext cx="13471201" cy="4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3600"/>
              <a:buFont typeface="Inter"/>
              <a:buNone/>
            </a:pPr>
            <a:r>
              <a:rPr lang="en-US" sz="3600" b="1" i="0" u="none" strike="noStrike" cap="non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Key Benefits of SSO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481070" y="1984151"/>
            <a:ext cx="1815921" cy="25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666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lang="en-US" sz="1800" b="1" i="0" u="none" strike="noStrike" cap="non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Enhanced UX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022261" y="2593508"/>
            <a:ext cx="2708965" cy="45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Eliminates password fatigue and friction.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1022261" y="3173057"/>
            <a:ext cx="3110248" cy="225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Seamless cross-app navigation.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1022261" y="3527227"/>
            <a:ext cx="2708965" cy="45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Higher user satisfaction and productivity.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5308888" y="1984151"/>
            <a:ext cx="2192628" cy="25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666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lang="en-US" sz="1800" b="1" i="0" u="none" strike="noStrike" cap="non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Unified Security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4850078" y="2593508"/>
            <a:ext cx="2708965" cy="45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Centralized MFA &amp; Conditional Access.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850078" y="3173057"/>
            <a:ext cx="2708965" cy="45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 access revocation (offboarding).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4850078" y="3752607"/>
            <a:ext cx="2708965" cy="45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Reduced attack surface (no local DBs).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9136705" y="1984151"/>
            <a:ext cx="1709671" cy="25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666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lang="en-US" sz="1800" b="1" i="0" u="none" strike="noStrike" cap="non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Easy Scaling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8677895" y="2593508"/>
            <a:ext cx="2709091" cy="45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Sync user pools across 100s of apps.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8677895" y="3173057"/>
            <a:ext cx="2709091" cy="45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Rapid onboarding for new services.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8677895" y="3752607"/>
            <a:ext cx="2709091" cy="45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Consistent security posture as you grow.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676141" y="5666704"/>
            <a:ext cx="5610359" cy="1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761"/>
              </a:lnSpc>
              <a:spcBef>
                <a:spcPts val="0"/>
              </a:spcBef>
              <a:spcAft>
                <a:spcPts val="0"/>
              </a:spcAft>
              <a:buClr>
                <a:srgbClr val="E29578"/>
              </a:buClr>
              <a:buSzPts val="1050"/>
              <a:buFont typeface="Inter"/>
              <a:buNone/>
            </a:pPr>
            <a:r>
              <a:rPr lang="en-US" sz="1050" b="1" i="0" u="none" strike="noStrike" cap="none">
                <a:solidFill>
                  <a:srgbClr val="E29578"/>
                </a:solidFill>
                <a:latin typeface="Inter"/>
                <a:ea typeface="Inter"/>
                <a:cs typeface="Inter"/>
                <a:sym typeface="Inter"/>
              </a:rPr>
              <a:t>EFFICIENCY STAT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676141" y="5827690"/>
            <a:ext cx="6732431" cy="225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SSO reduces the average number of passwords per employee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7029676" y="5634507"/>
            <a:ext cx="347730" cy="32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8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nter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6864666" y="5956479"/>
            <a:ext cx="743755" cy="128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Before SSO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9001754" y="5634507"/>
            <a:ext cx="173865" cy="32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888"/>
              </a:lnSpc>
              <a:spcBef>
                <a:spcPts val="0"/>
              </a:spcBef>
              <a:spcAft>
                <a:spcPts val="0"/>
              </a:spcAft>
              <a:buClr>
                <a:srgbClr val="E29578"/>
              </a:buClr>
              <a:buSzPts val="2700"/>
              <a:buFont typeface="Inter"/>
              <a:buNone/>
            </a:pPr>
            <a:r>
              <a:rPr lang="en-US" sz="2700" b="1" i="0" u="none" strike="noStrike" cap="none">
                <a:solidFill>
                  <a:srgbClr val="E2957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8820645" y="5956479"/>
            <a:ext cx="608527" cy="128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With SSO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812</Words>
  <Application>Microsoft Office PowerPoint</Application>
  <PresentationFormat>Widescreen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PptxGenJS</dc:creator>
  <cp:lastModifiedBy>Son Huynh Ngoc</cp:lastModifiedBy>
  <cp:revision>3</cp:revision>
  <dcterms:created xsi:type="dcterms:W3CDTF">2026-02-09T13:39:17Z</dcterms:created>
  <dcterms:modified xsi:type="dcterms:W3CDTF">2026-02-10T02:36:40Z</dcterms:modified>
</cp:coreProperties>
</file>